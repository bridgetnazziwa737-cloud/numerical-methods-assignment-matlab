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387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468880"/>
            <a:ext cx="107259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NUMERICAL METHODS ASSIGNMENT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38328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Newton-Raphson Method  •  Secant Method  •  4th-Order Runge-Kutta Method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31920"/>
            <a:ext cx="10725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Flowcharts, pseudocode (for-loop and while-loop), and two worked numerical examples per method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Newton-Raphson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800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open method for finding a root of f(x) = 0.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formula: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x(i+1) = x(i) - f(x(i)) / f '(x(i))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 until |x(i+1) - x(i)| &lt; e, or i &gt; N.</a:t>
            </a:r>
            <a:endParaRPr lang="en-US" sz="2000" dirty="0"/>
          </a:p>
        </p:txBody>
      </p:sp>
      <p:pic>
        <p:nvPicPr>
          <p:cNvPr id="5" name="Image 0" descr="imgs/newton_raphson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00" y="1417320"/>
            <a:ext cx="6217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Newton-Raphson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'for' loop version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x0, e, 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fx  = f(x0)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dfx = f'(x0)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 = x0 - fx / dfx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abs(x1 - x0) &lt; 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"Root = ", x1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45352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'while' loop version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8"/>
          <p:cNvSpPr txBox="1"/>
          <p:nvPr/>
        </p:nvSpPr>
        <p:spPr>
          <a:xfrm>
            <a:off x="6382512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x0, e, 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=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x1 = x0 - f(x0) / f'(x0)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abs(x1 - x0) &gt;= 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i &lt;= 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x0 - f(x0) / f'(x0)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 = i + 1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"Root = ", x1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Newton-Raphson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f(x) = x^3 - x - 2 = 0, starting from x0 = 1.5, with tolerance e = 1e-5</a:t>
            </a: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998094"/>
              </p:ext>
            </p:extLst>
          </p:nvPr>
        </p:nvGraphicFramePr>
        <p:xfrm>
          <a:off x="457200" y="2148838"/>
          <a:ext cx="11274550" cy="3108960"/>
        </p:xfrm>
        <a:graphic>
          <a:graphicData uri="http://schemas.openxmlformats.org/drawingml/2006/table">
            <a:tbl>
              <a:tblPr/>
              <a:tblGrid>
                <a:gridCol w="1352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f(x(i))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'(x(i))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x(i+1)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-0.125000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5.750000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1.521739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1.521739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0.002137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5.947070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5.943790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converges after 3 iterations to a root of x ≈ 1.521380.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Newton-Raphson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f(x) = x^2 - 2 = 0 (i.e. compute √2), starting from x0 = 1, with tolerance e = 1e-5</a:t>
            </a:r>
            <a:r>
              <a:rPr lang="en-US" sz="18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5709471"/>
              </p:ext>
            </p:extLst>
          </p:nvPr>
        </p:nvGraphicFramePr>
        <p:xfrm>
          <a:off x="457200" y="2148840"/>
          <a:ext cx="11274550" cy="3392976"/>
        </p:xfrm>
        <a:graphic>
          <a:graphicData uri="http://schemas.openxmlformats.org/drawingml/2006/table">
            <a:tbl>
              <a:tblPr/>
              <a:tblGrid>
                <a:gridCol w="13529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804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5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f(x(i))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'(x(i))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x(i+1)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1.416667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1.416667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0.006944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2.833333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1.414216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1.414216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2.828431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1.414214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54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1.414214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2.828427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1.414214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converges after 5 iterations to a root of x ≈ 1.414214 (≈ √2).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Secant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800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Similar to Newton-Raphson, but avoids computing f'(x).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Iterative formula: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x(i+1) = x(i) - f(x(i))·(x(i)-x(i-1))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       / (f(x(i))-f(x(i-1)))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Requires two initial guesses x0 and x1.</a:t>
            </a:r>
            <a:endParaRPr lang="en-US" sz="2000" dirty="0"/>
          </a:p>
        </p:txBody>
      </p:sp>
      <p:pic>
        <p:nvPicPr>
          <p:cNvPr id="5" name="Image 0" descr="imgs/secant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00" y="1417320"/>
            <a:ext cx="6217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Secant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'for' loop version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x0, x1, e, 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= x1 - f(x1)*(x1 - 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/ (f(x1) - f(x0))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abs(x2 - x1) &lt; e: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x2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"Root = ", x2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45352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'while' loop version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8"/>
          <p:cNvSpPr txBox="1"/>
          <p:nvPr/>
        </p:nvSpPr>
        <p:spPr>
          <a:xfrm>
            <a:off x="6382512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x0, x1, e, 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 =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x2 = x1 - f(x1)*(x1 - 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 (f(x1) - f(x0))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abs(x2 - x1) &gt;= 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and i &lt;= 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x0 = x1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x1 = x2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x2 = x1 - f(x1)*(x1-x0)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/ (f(x1)-f(x0))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 = i + 1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"Root = ", x2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Secant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f(x) = x^3 - x - 2 = 0, starting from x0 = 1, x1 = 2, with tolerance e = 1e-5.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1944740"/>
              </p:ext>
            </p:extLst>
          </p:nvPr>
        </p:nvGraphicFramePr>
        <p:xfrm>
          <a:off x="457200" y="2148840"/>
          <a:ext cx="11274548" cy="3794763"/>
        </p:xfrm>
        <a:graphic>
          <a:graphicData uri="http://schemas.openxmlformats.org/drawingml/2006/table">
            <a:tbl>
              <a:tblPr/>
              <a:tblGrid>
                <a:gridCol w="99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x(i-1)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f(x(i-1))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f(x(i))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x(i+1)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1.333333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1.333333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-0.962963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1.462687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1.333333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1.462687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-0.962963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-0.333339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1.531169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1.462687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1.531169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-0.333339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0.058626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1.520926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1.531169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1.520926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0.058626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-0.002693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1.521376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2109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1.520926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1.521376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-0.002693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-0.000020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1.521380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converges after 6 iterations to a root of x ≈ 1.521380.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Secant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f(x) = cos(x) - x = 0, starting from x0 = 0, x1 = 1, with tolerance e = 1e-5.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547120"/>
              </p:ext>
            </p:extLst>
          </p:nvPr>
        </p:nvGraphicFramePr>
        <p:xfrm>
          <a:off x="457200" y="2148840"/>
          <a:ext cx="11274548" cy="3489960"/>
        </p:xfrm>
        <a:graphic>
          <a:graphicData uri="http://schemas.openxmlformats.org/drawingml/2006/table">
            <a:tbl>
              <a:tblPr/>
              <a:tblGrid>
                <a:gridCol w="9997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549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1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x(i-1)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f(x(i-1))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f(x(i))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x(i+1)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-0.459698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0.685073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0.685073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-0.459698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0.089299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0.736299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0.685073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0.736299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0.089299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0.004660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0.739119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0.736299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0.739119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0.004660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-0.000057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0.739085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6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0.739119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0.739085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-0.000057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0.739085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converges after 5 iterations to a root of x ≈ 0.739085 (the Dottie number).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4th-Order Runge-Kutta Method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4800600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Solves dy/dx = f(x,y), y(x0) = y0, one step h at a time,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four slope estimates: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k1 = h f(x, y)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k2 = h f(x+h/2, y+k1/2)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k3 = h f(x+h/2, y+k2/2)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k4 = h f(x+h, y+k3)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endParaRPr lang="en-US" sz="2000" dirty="0"/>
          </a:p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y(new) = y + (k1+2k2+2k3+k4)/6</a:t>
            </a:r>
            <a:endParaRPr lang="en-US" sz="2000" dirty="0"/>
          </a:p>
        </p:txBody>
      </p:sp>
      <p:pic>
        <p:nvPicPr>
          <p:cNvPr id="5" name="Image 0" descr="imgs/rk4_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0000" y="1417320"/>
            <a:ext cx="62179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4th-Order Runge-Kutta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Pseudocode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'for' loop version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" name="Text 5"/>
          <p:cNvSpPr txBox="1"/>
          <p:nvPr/>
        </p:nvSpPr>
        <p:spPr>
          <a:xfrm>
            <a:off x="594360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x0, y0, h, xn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(xn - x0) / 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y0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i = 1 to 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h*f(x, y)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h*f(x+h/2, y+k1/2)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h*f(x+h/2, y+k2/2)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h*f(x+h, y+k3)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= y+(k1+2k2+2k3+k4)/6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= x + 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"y(", x, ") = ", y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245352" y="1508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'while' loop version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245352" y="1874520"/>
            <a:ext cx="5486400" cy="42062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" name="Text 8"/>
          <p:cNvSpPr txBox="1"/>
          <p:nvPr/>
        </p:nvSpPr>
        <p:spPr>
          <a:xfrm>
            <a:off x="6382512" y="1965960"/>
            <a:ext cx="52120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 x0, y0, h, xn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x0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y0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x &lt; xn: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k1 = h*f(x, y)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k2 = h*f(x+h/2, y+k1/2)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k3 = h*f(x+h/2, y+k2/2)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k4 = h*f(x+h, y+k3)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  = y+(k1+2k2+2k3+k4)/6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  = x + h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 "y(", x, ") = ", y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4th-Order Runge-Kutta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dy/dx = x + y, y(0) = 1, step size h = 0.1. Find y at x = 0.2.</a:t>
            </a:r>
            <a:endParaRPr lang="en-US" sz="2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4814963"/>
              </p:ext>
            </p:extLst>
          </p:nvPr>
        </p:nvGraphicFramePr>
        <p:xfrm>
          <a:off x="457200" y="2148840"/>
          <a:ext cx="11274550" cy="3108960"/>
        </p:xfrm>
        <a:graphic>
          <a:graphicData uri="http://schemas.openxmlformats.org/drawingml/2006/table">
            <a:tbl>
              <a:tblPr/>
              <a:tblGrid>
                <a:gridCol w="1084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y(new)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0.110500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0.121050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1.110342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1.110342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0.121034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0.132086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0.132638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0.144298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1.242805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y(0.2) ≈ 1.242805.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745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4th-Order Runge-Kutta Method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2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dy/dx = -2xy, y(0) = 1, step size h = 0.1. Find y at x = 0.2.</a:t>
            </a:r>
            <a:endParaRPr lang="en-US" sz="2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6877972"/>
              </p:ext>
            </p:extLst>
          </p:nvPr>
        </p:nvGraphicFramePr>
        <p:xfrm>
          <a:off x="457200" y="2148840"/>
          <a:ext cx="11274550" cy="2788920"/>
        </p:xfrm>
        <a:graphic>
          <a:graphicData uri="http://schemas.openxmlformats.org/drawingml/2006/table">
            <a:tbl>
              <a:tblPr/>
              <a:tblGrid>
                <a:gridCol w="10840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409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5177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929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k3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y(new)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-0.010000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-0.009950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-0.019801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0.990050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96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0.990050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-0.019801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-0.029404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-0.029260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-0.038432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0.960789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594360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y(0.2) ≈ 0.960789 (exact solution y = e^(-x^2) gives 0.960789).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1431</Words>
  <Application>Microsoft Office PowerPoint</Application>
  <PresentationFormat>Widescreen</PresentationFormat>
  <Paragraphs>317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Nazziwa Bridget</cp:lastModifiedBy>
  <cp:revision>2</cp:revision>
  <dcterms:created xsi:type="dcterms:W3CDTF">2026-09-27T20:12:32Z</dcterms:created>
  <dcterms:modified xsi:type="dcterms:W3CDTF">2026-09-28T08:21:14Z</dcterms:modified>
</cp:coreProperties>
</file>